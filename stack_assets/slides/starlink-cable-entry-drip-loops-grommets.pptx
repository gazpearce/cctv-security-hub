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none">
            <a:spAutoFit/>
          </a:bodyPr>
          <a:lstStyle/>
          <a:p>
            <a:pPr>
              <a:defRPr sz="1000" b="1">
                <a:solidFill>
                  <a:srgbClr val="FF5500"/>
                </a:solidFill>
              </a:defRPr>
            </a:pPr>
            <a:r>
              <a:t>ADI COMMUNICATIONS • SATELLITE TELECOMS FIELD SPECIFICATION</a:t>
            </a:r>
          </a:p>
        </p:txBody>
      </p:sp>
      <p:sp>
        <p:nvSpPr>
          <p:cNvPr id="4" name="TextBox 3"/>
          <p:cNvSpPr txBox="1"/>
          <p:nvPr/>
        </p:nvSpPr>
        <p:spPr>
          <a:xfrm>
            <a:off x="731520" y="1005840"/>
            <a:ext cx="10728655" cy="1280160"/>
          </a:xfrm>
          <a:prstGeom prst="rect">
            <a:avLst/>
          </a:prstGeom>
          <a:noFill/>
        </p:spPr>
        <p:txBody>
          <a:bodyPr wrap="square">
            <a:spAutoFit/>
          </a:bodyPr>
          <a:lstStyle/>
          <a:p>
            <a:pPr>
              <a:defRPr sz="2600" b="1">
                <a:solidFill>
                  <a:srgbClr val="FFFFFF"/>
                </a:solidFill>
              </a:defRPr>
            </a:pPr>
            <a:r>
              <a:t>How should external Starlink cables enter UK stone cavity walls to prevent moisture ingress?</a:t>
            </a:r>
          </a:p>
        </p:txBody>
      </p:sp>
      <p:sp>
        <p:nvSpPr>
          <p:cNvPr id="5" name="Rounded Rectangle 4"/>
          <p:cNvSpPr/>
          <p:nvPr/>
        </p:nvSpPr>
        <p:spPr>
          <a:xfrm>
            <a:off x="731520" y="2468880"/>
            <a:ext cx="10728655" cy="2103120"/>
          </a:xfrm>
          <a:prstGeom prst="roundRect">
            <a:avLst/>
          </a:prstGeom>
          <a:solidFill>
            <a:srgbClr val="121218"/>
          </a:solidFill>
          <a:ln w="1905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200" b="1">
                <a:solidFill>
                  <a:srgbClr val="FF5500"/>
                </a:solidFill>
              </a:defRPr>
            </a:pPr>
            <a:r>
              <a:t>BOTTOM LINE UP FRONT (BLUF) TRADE ANSWER:</a:t>
            </a:r>
          </a:p>
          <a:p>
            <a:pPr>
              <a:spcBef>
                <a:spcPts val="800"/>
              </a:spcBef>
              <a:defRPr sz="1300">
                <a:solidFill>
                  <a:srgbClr val="FFFFFF"/>
                </a:solidFill>
              </a:defRPr>
            </a:pPr>
            <a:r>
              <a:t>Could an unsealed satellite cable entry hole cause driving rain to seep directly into your cavity wall? Drilling straight into brickwork allows rain running down the cable to follow it indoors.</a:t>
            </a:r>
          </a:p>
        </p:txBody>
      </p:sp>
      <p:sp>
        <p:nvSpPr>
          <p:cNvPr id="6" name="TextBox 5"/>
          <p:cNvSpPr txBox="1"/>
          <p:nvPr/>
        </p:nvSpPr>
        <p:spPr>
          <a:xfrm>
            <a:off x="731520" y="4846320"/>
            <a:ext cx="10728655" cy="457200"/>
          </a:xfrm>
          <a:prstGeom prst="rect">
            <a:avLst/>
          </a:prstGeom>
          <a:noFill/>
        </p:spPr>
        <p:txBody>
          <a:bodyPr wrap="none">
            <a:spAutoFit/>
          </a:bodyPr>
          <a:lstStyle/>
          <a:p>
            <a:pPr>
              <a:defRPr sz="1100">
                <a:solidFill>
                  <a:srgbClr val="A1A1AA"/>
                </a:solidFill>
              </a:defRPr>
            </a:pPr>
            <a:r>
              <a:t>⚡ Upward 5° Masonry Slope • External Drip Loop • UV-Stabilised Cat6 | 🛡️ £10M Public Liability | 📍 Yorkshire &amp; Lancashire Regional Engineering</a:t>
            </a:r>
          </a:p>
        </p:txBody>
      </p:sp>
      <p:sp>
        <p:nvSpPr>
          <p:cNvPr id="7" name="TextBox 6"/>
          <p:cNvSpPr txBox="1"/>
          <p:nvPr/>
        </p:nvSpPr>
        <p:spPr>
          <a:xfrm>
            <a:off x="731520" y="6309360"/>
            <a:ext cx="10728655" cy="365760"/>
          </a:xfrm>
          <a:prstGeom prst="rect">
            <a:avLst/>
          </a:prstGeom>
          <a:noFill/>
        </p:spPr>
        <p:txBody>
          <a:bodyPr wrap="none">
            <a:spAutoFit/>
          </a:bodyPr>
          <a:lstStyle/>
          <a:p>
            <a:pPr>
              <a:defRPr sz="900">
                <a:solidFill>
                  <a:srgbClr val="A1A1AA"/>
                </a:solidFill>
              </a:defRPr>
            </a:pPr>
            <a:r>
              <a:t>Lead Engineer: Gary Pearce (07860 244 274) • 25+ Yrs Field Craftsmanship • 9.98/10 Rating | Slide 1 of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FIELD BREAKDOWN: BUDGET DEFECTS VS TRADE ENGINEERING</a:t>
            </a:r>
          </a:p>
        </p:txBody>
      </p:sp>
      <p:sp>
        <p:nvSpPr>
          <p:cNvPr id="4" name="Rounded Rectangle 3"/>
          <p:cNvSpPr/>
          <p:nvPr/>
        </p:nvSpPr>
        <p:spPr>
          <a:xfrm>
            <a:off x="731520" y="1371600"/>
            <a:ext cx="5120640" cy="4572000"/>
          </a:xfrm>
          <a:prstGeom prst="roundRect">
            <a:avLst/>
          </a:prstGeom>
          <a:solidFill>
            <a:srgbClr val="121218"/>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EF4444"/>
                </a:solidFill>
              </a:defRPr>
            </a:pPr>
            <a:r>
              <a:t>❌ COMMON BUDGET SHORTFALLS</a:t>
            </a:r>
          </a:p>
          <a:p>
            <a:pPr>
              <a:spcBef>
                <a:spcPts val="800"/>
              </a:spcBef>
              <a:defRPr sz="1100">
                <a:solidFill>
                  <a:srgbClr val="FFFFFF"/>
                </a:solidFill>
              </a:defRPr>
            </a:pPr>
            <a:r>
              <a:t>• Use of cheap copper-clad aluminium (CCA) or inferior coaxial cable</a:t>
            </a:r>
          </a:p>
          <a:p>
            <a:pPr>
              <a:spcBef>
                <a:spcPts val="800"/>
              </a:spcBef>
              <a:defRPr sz="1100">
                <a:solidFill>
                  <a:srgbClr val="FFFFFF"/>
                </a:solidFill>
              </a:defRPr>
            </a:pPr>
            <a:r>
              <a:t>• Uncalibrated signal alignment relying on consumer indicators</a:t>
            </a:r>
          </a:p>
          <a:p>
            <a:pPr>
              <a:spcBef>
                <a:spcPts val="800"/>
              </a:spcBef>
              <a:defRPr sz="1100">
                <a:solidFill>
                  <a:srgbClr val="FFFFFF"/>
                </a:solidFill>
              </a:defRPr>
            </a:pPr>
            <a:r>
              <a:t>• Failure to meet British Standards (BS EN / IET Building Regulations)</a:t>
            </a:r>
          </a:p>
          <a:p>
            <a:pPr>
              <a:spcBef>
                <a:spcPts val="800"/>
              </a:spcBef>
              <a:defRPr sz="1100">
                <a:solidFill>
                  <a:srgbClr val="FFFFFF"/>
                </a:solidFill>
              </a:defRPr>
            </a:pPr>
            <a:r>
              <a:t>• Lack of gale-rated storm bracketing leading to micro-vibrations</a:t>
            </a:r>
          </a:p>
        </p:txBody>
      </p:sp>
      <p:sp>
        <p:nvSpPr>
          <p:cNvPr id="5" name="Rounded Rectangle 4"/>
          <p:cNvSpPr/>
          <p:nvPr/>
        </p:nvSpPr>
        <p:spPr>
          <a:xfrm>
            <a:off x="6339535" y="1371600"/>
            <a:ext cx="5120640" cy="4572000"/>
          </a:xfrm>
          <a:prstGeom prst="roundRect">
            <a:avLst/>
          </a:prstGeom>
          <a:solidFill>
            <a:srgbClr val="12121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10B981"/>
                </a:solidFill>
              </a:defRPr>
            </a:pPr>
            <a:r>
              <a:t>✅ ADI PROFESSIONAL TRADE STANDARD</a:t>
            </a:r>
          </a:p>
          <a:p>
            <a:pPr>
              <a:spcBef>
                <a:spcPts val="800"/>
              </a:spcBef>
              <a:defRPr sz="1100">
                <a:solidFill>
                  <a:srgbClr val="FFFFFF"/>
                </a:solidFill>
              </a:defRPr>
            </a:pPr>
            <a:r>
              <a:t>• Fitted to Upward 5° Masonry Slope</a:t>
            </a:r>
          </a:p>
          <a:p>
            <a:pPr>
              <a:spcBef>
                <a:spcPts val="800"/>
              </a:spcBef>
              <a:defRPr sz="1100">
                <a:solidFill>
                  <a:srgbClr val="FFFFFF"/>
                </a:solidFill>
              </a:defRPr>
            </a:pPr>
            <a:r>
              <a:t>• 100% solid bare copper cabling (WF100 / 23 AWG Cat6 PoE)</a:t>
            </a:r>
          </a:p>
          <a:p>
            <a:pPr>
              <a:spcBef>
                <a:spcPts val="800"/>
              </a:spcBef>
              <a:defRPr sz="1100">
                <a:solidFill>
                  <a:srgbClr val="FFFFFF"/>
                </a:solidFill>
              </a:defRPr>
            </a:pPr>
            <a:r>
              <a:t>• Calibrated digital spectrum analyzer testing (MER &gt;= 28dB / 0.00 deg drift)</a:t>
            </a:r>
          </a:p>
          <a:p>
            <a:pPr>
              <a:spcBef>
                <a:spcPts val="800"/>
              </a:spcBef>
              <a:defRPr sz="1100">
                <a:solidFill>
                  <a:srgbClr val="FFFFFF"/>
                </a:solidFill>
              </a:defRPr>
            </a:pPr>
            <a:r>
              <a:t>• Pennine 90mph gale-tested structural mounting cradles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PHYSICAL ARCHITECTURE • SATELLITE TELECOMS HARDWARE BENCHMARKS</a:t>
            </a:r>
          </a:p>
        </p:txBody>
      </p:sp>
      <p:sp>
        <p:nvSpPr>
          <p:cNvPr id="4" name="Rounded Rectangle 3"/>
          <p:cNvSpPr/>
          <p:nvPr/>
        </p:nvSpPr>
        <p:spPr>
          <a:xfrm>
            <a:off x="731520"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01. BRITISH STANDARDS</a:t>
            </a:r>
          </a:p>
          <a:p>
            <a:pPr>
              <a:spcBef>
                <a:spcPts val="1000"/>
              </a:spcBef>
              <a:defRPr sz="1100">
                <a:solidFill>
                  <a:srgbClr val="FFFFFF"/>
                </a:solidFill>
              </a:defRPr>
            </a:pPr>
            <a:r>
              <a:t>Engineered in accordance with Upward 5° Masonry Slope for court and insurance admissibility.</a:t>
            </a:r>
          </a:p>
        </p:txBody>
      </p:sp>
      <p:sp>
        <p:nvSpPr>
          <p:cNvPr id="5" name="Rounded Rectangle 4"/>
          <p:cNvSpPr/>
          <p:nvPr/>
        </p:nvSpPr>
        <p:spPr>
          <a:xfrm>
            <a:off x="4425696"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02. CABLING INFRASTRUCTURE</a:t>
            </a:r>
          </a:p>
          <a:p>
            <a:pPr>
              <a:spcBef>
                <a:spcPts val="1000"/>
              </a:spcBef>
              <a:defRPr sz="1100">
                <a:solidFill>
                  <a:srgbClr val="FFFFFF"/>
                </a:solidFill>
              </a:defRPr>
            </a:pPr>
            <a:r>
              <a:t>Solid bare copper 23 AWG Cat6 PoE or CAI-benchmarked double-screened WF100 coaxial cabling.</a:t>
            </a:r>
          </a:p>
        </p:txBody>
      </p:sp>
      <p:sp>
        <p:nvSpPr>
          <p:cNvPr id="6" name="Rounded Rectangle 5"/>
          <p:cNvSpPr/>
          <p:nvPr/>
        </p:nvSpPr>
        <p:spPr>
          <a:xfrm>
            <a:off x="8119872"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03. STRUCTURAL CONTAINMENT</a:t>
            </a:r>
          </a:p>
          <a:p>
            <a:pPr>
              <a:spcBef>
                <a:spcPts val="1000"/>
              </a:spcBef>
              <a:defRPr sz="1100">
                <a:solidFill>
                  <a:srgbClr val="FFFFFF"/>
                </a:solidFill>
              </a:defRPr>
            </a:pPr>
            <a:r>
              <a:t>Weatherproof silicone drip loops, non-drill chimney lashing cradles, and heavy-duty storm brackets.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937760"/>
          </a:xfrm>
          <a:prstGeom prst="roundRect">
            <a:avLst/>
          </a:prstGeom>
          <a:solidFill>
            <a:srgbClr val="121218"/>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500">
                <a:solidFill>
                  <a:srgbClr val="FF5500"/>
                </a:solidFill>
              </a:defRPr>
            </a:pPr>
            <a:r>
              <a:t>GARY PEARCE • LEAD PHYSICAL SECURITY &amp; TELECOM ENGINEER</a:t>
            </a:r>
          </a:p>
          <a:p>
            <a:pPr>
              <a:spcBef>
                <a:spcPts val="400"/>
              </a:spcBef>
              <a:defRPr b="1" sz="1300">
                <a:solidFill>
                  <a:srgbClr val="FFFFFF"/>
                </a:solidFill>
              </a:defRPr>
            </a:pPr>
            <a:r>
              <a:t>Direct Mobile: 07860 244 274 | Business: ADI Communications</a:t>
            </a:r>
          </a:p>
          <a:p>
            <a:pPr>
              <a:spcBef>
                <a:spcPts val="600"/>
              </a:spcBef>
              <a:defRPr sz="1100">
                <a:solidFill>
                  <a:srgbClr val="FFFFFF"/>
                </a:solidFill>
              </a:defRPr>
            </a:pPr>
            <a:r>
              <a:t>• 25+ Years Hands-On Physical Security &amp; Telecommunications Craftsmanship across Yorkshire &amp; Lancashire</a:t>
            </a:r>
          </a:p>
          <a:p>
            <a:pPr>
              <a:spcBef>
                <a:spcPts val="600"/>
              </a:spcBef>
              <a:defRPr sz="1100">
                <a:solidFill>
                  <a:srgbClr val="FFFFFF"/>
                </a:solidFill>
              </a:defRPr>
            </a:pPr>
            <a:r>
              <a:t>• £10,000,000 Public Liability Insurance for all residential and commercial structural installations</a:t>
            </a:r>
          </a:p>
          <a:p>
            <a:pPr>
              <a:spcBef>
                <a:spcPts val="600"/>
              </a:spcBef>
              <a:defRPr sz="1100">
                <a:solidFill>
                  <a:srgbClr val="FFFFFF"/>
                </a:solidFill>
              </a:defRPr>
            </a:pPr>
            <a:r>
              <a:t>• Certified: NVQ Level 1-3 Aerials &amp; Satellite, NVQ Level 1-4 Data Cabling &amp; Fibre, Qualified CCTV Installer</a:t>
            </a:r>
          </a:p>
          <a:p>
            <a:pPr>
              <a:spcBef>
                <a:spcPts val="600"/>
              </a:spcBef>
              <a:defRPr sz="1100">
                <a:solidFill>
                  <a:srgbClr val="FFFFFF"/>
                </a:solidFill>
              </a:defRPr>
            </a:pPr>
            <a:r>
              <a:t>• Verified Client Reputation: ★★★★★ 9.98 / 10 Rating from 84+ Client Reviews</a:t>
            </a:r>
          </a:p>
          <a:p>
            <a:pPr>
              <a:spcBef>
                <a:spcPts val="600"/>
              </a:spcBef>
              <a:defRPr sz="1100">
                <a:solidFill>
                  <a:srgbClr val="FFFFFF"/>
                </a:solidFill>
              </a:defRPr>
            </a:pPr>
            <a:r>
              <a:t>• CAI Compliance: Fitted exclusively with CAI-benchmarked equipment &amp; double-screened WF100 cable</a:t>
            </a:r>
          </a:p>
          <a:p>
            <a:pPr>
              <a:spcBef>
                <a:spcPts val="1200"/>
              </a:spcBef>
              <a:defRPr sz="1000">
                <a:solidFill>
                  <a:srgbClr val="38BDF8"/>
                </a:solidFill>
              </a:defRPr>
            </a:pPr>
            <a:r>
              <a:t>Top-of-Stack Google Slides DA 100 Companion Apex:</a:t>
            </a:r>
            <a:br/>
            <a:r>
              <a:t>https://docs.google.com/presentation/d/e/2PACX-1vTb-2iOvkk7k2_hkQ2hI3HDzuRDZrKUQmbhPSU3JHLx6XHHdzR1zzPlyo7ed6QBdfA3ly0RiUy6BRMh/pub</a:t>
            </a:r>
          </a:p>
          <a:p>
            <a:pPr>
              <a:spcBef>
                <a:spcPts val="400"/>
              </a:spcBef>
              <a:defRPr sz="1000">
                <a:solidFill>
                  <a:srgbClr val="38BDF8"/>
                </a:solidFill>
              </a:defRPr>
            </a:pPr>
            <a:r>
              <a:t>Technical Field Buffer Guide: https://adicommunications.co.uk/news/starlink-chimney-mount-vs-roof-apex/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